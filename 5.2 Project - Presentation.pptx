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6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8070"/>
    <a:srgbClr val="F5F1E8"/>
    <a:srgbClr val="105666"/>
    <a:srgbClr val="EDE8D9"/>
    <a:srgbClr val="0C11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D3574E-E9E9-EA48-8202-4CDF339568DF}" v="44" dt="2026-03-01T06:44:16.8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6327"/>
  </p:normalViewPr>
  <p:slideViewPr>
    <p:cSldViewPr snapToGrid="0" snapToObjects="1">
      <p:cViewPr varScale="1">
        <p:scale>
          <a:sx n="171" d="100"/>
          <a:sy n="171" d="100"/>
        </p:scale>
        <p:origin x="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-Daniel, Atlanta (Online)" userId="6b82a697-83a2-447c-8985-d47cd5c03487" providerId="ADAL" clId="{82B85E68-C3D3-5A81-B923-785B896232C3}"/>
    <pc:docChg chg="modSld">
      <pc:chgData name="OL-Daniel, Atlanta (Online)" userId="6b82a697-83a2-447c-8985-d47cd5c03487" providerId="ADAL" clId="{82B85E68-C3D3-5A81-B923-785B896232C3}" dt="2026-03-01T07:03:14.586" v="32" actId="20577"/>
      <pc:docMkLst>
        <pc:docMk/>
      </pc:docMkLst>
      <pc:sldChg chg="modSp mod">
        <pc:chgData name="OL-Daniel, Atlanta (Online)" userId="6b82a697-83a2-447c-8985-d47cd5c03487" providerId="ADAL" clId="{82B85E68-C3D3-5A81-B923-785B896232C3}" dt="2026-03-01T07:03:14.586" v="32" actId="20577"/>
        <pc:sldMkLst>
          <pc:docMk/>
          <pc:sldMk cId="0" sldId="264"/>
        </pc:sldMkLst>
        <pc:spChg chg="mod">
          <ac:chgData name="OL-Daniel, Atlanta (Online)" userId="6b82a697-83a2-447c-8985-d47cd5c03487" providerId="ADAL" clId="{82B85E68-C3D3-5A81-B923-785B896232C3}" dt="2026-03-01T07:03:14.586" v="32" actId="20577"/>
          <ac:spMkLst>
            <pc:docMk/>
            <pc:sldMk cId="0" sldId="264"/>
            <ac:spMk id="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6480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DF047-9104-1161-F0BB-61BDE9A71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0E9F49-2C61-786B-C566-AB5D34E1FE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18253A-339C-4964-A440-2DB021865D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26AC2-396C-FD8F-B5A4-F5689D960E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2488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28120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Cinematic ROI &amp;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02920" y="2633954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1B6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Efficiency, Genre Fatigue, &amp; Global Film Trends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02920" y="1944512"/>
            <a:ext cx="5303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Audience Dynamics: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502920" y="3521480"/>
            <a:ext cx="3657600" cy="13716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3653696"/>
            <a:ext cx="5248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Atlanta Daniel · SDC486L · Final Project · February 2026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583680" y="1208048"/>
            <a:ext cx="2331720" cy="251460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0" y="5084064"/>
            <a:ext cx="9144000" cy="2743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14D901B-690B-C935-502A-180FA39921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74869" y="1416748"/>
            <a:ext cx="2749341" cy="20525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dirty="0">
                <a:solidFill>
                  <a:srgbClr val="C8B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298448" y="40932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Cleaning &amp; Preprocessing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84048" y="960120"/>
            <a:ext cx="8366760" cy="13716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CEF81BA-B06C-9A9C-8F0C-ECEBBB5C0740}"/>
              </a:ext>
            </a:extLst>
          </p:cNvPr>
          <p:cNvGrpSpPr/>
          <p:nvPr/>
        </p:nvGrpSpPr>
        <p:grpSpPr>
          <a:xfrm>
            <a:off x="384048" y="1097280"/>
            <a:ext cx="4023360" cy="1737360"/>
            <a:chOff x="384048" y="1097280"/>
            <a:chExt cx="4023360" cy="1737360"/>
          </a:xfrm>
        </p:grpSpPr>
        <p:sp>
          <p:nvSpPr>
            <p:cNvPr id="7" name="Shape 5"/>
            <p:cNvSpPr/>
            <p:nvPr/>
          </p:nvSpPr>
          <p:spPr>
            <a:xfrm>
              <a:off x="384048" y="1097280"/>
              <a:ext cx="4023360" cy="1737360"/>
            </a:xfrm>
            <a:prstGeom prst="rect">
              <a:avLst/>
            </a:prstGeom>
            <a:solidFill>
              <a:srgbClr val="EDE7D9"/>
            </a:solidFill>
            <a:ln w="9525">
              <a:solidFill>
                <a:srgbClr val="C8BFB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6"/>
            <p:cNvSpPr/>
            <p:nvPr/>
          </p:nvSpPr>
          <p:spPr>
            <a:xfrm>
              <a:off x="384048" y="1097280"/>
              <a:ext cx="50292" cy="1737360"/>
            </a:xfrm>
            <a:prstGeom prst="rect">
              <a:avLst/>
            </a:prstGeom>
            <a:solidFill>
              <a:srgbClr val="1B6B6E"/>
            </a:solidFill>
            <a:ln w="12700">
              <a:solidFill>
                <a:srgbClr val="1B6B6E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8"/>
            <p:cNvSpPr/>
            <p:nvPr/>
          </p:nvSpPr>
          <p:spPr>
            <a:xfrm>
              <a:off x="566928" y="1223846"/>
              <a:ext cx="376732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D111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Data Cleaning Steps</a:t>
              </a:r>
              <a:endParaRPr lang="en-US" sz="12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566928" y="1463040"/>
              <a:ext cx="3703320" cy="12344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00" dirty="0">
                  <a:solidFill>
                    <a:srgbClr val="8A8070"/>
                  </a:solidFill>
                  <a:ea typeface="Calibri" pitchFamily="34" charset="-122"/>
                  <a:cs typeface="Calibri" pitchFamily="34" charset="-120"/>
                </a:rPr>
                <a:t>Removed: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8A8070"/>
                  </a:solidFill>
                  <a:ea typeface="Calibri" pitchFamily="34" charset="-122"/>
                  <a:cs typeface="Calibri" pitchFamily="34" charset="-120"/>
                </a:rPr>
                <a:t>Films shorter than 60 minutes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8A8070"/>
                  </a:solidFill>
                  <a:ea typeface="Calibri" pitchFamily="34" charset="-122"/>
                  <a:cs typeface="Calibri" pitchFamily="34" charset="-120"/>
                </a:rPr>
                <a:t>Films produced before 1930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8A8070"/>
                  </a:solidFill>
                  <a:ea typeface="Calibri" pitchFamily="34" charset="-122"/>
                  <a:cs typeface="Calibri" pitchFamily="34" charset="-120"/>
                </a:rPr>
                <a:t>Runtimes exceeding 250 minutes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8A8070"/>
                  </a:solidFill>
                  <a:ea typeface="Calibri" pitchFamily="34" charset="-122"/>
                  <a:cs typeface="Calibri" pitchFamily="34" charset="-120"/>
                </a:rPr>
                <a:t>Revenues over $5 billion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8A8070"/>
                  </a:solidFill>
                  <a:ea typeface="Calibri" pitchFamily="34" charset="-122"/>
                  <a:cs typeface="Calibri" pitchFamily="34" charset="-120"/>
                </a:rPr>
                <a:t>Records missing budget, revenue, or release year</a:t>
              </a:r>
            </a:p>
          </p:txBody>
        </p:sp>
      </p:grpSp>
      <p:sp>
        <p:nvSpPr>
          <p:cNvPr id="12" name="Shape 10"/>
          <p:cNvSpPr/>
          <p:nvPr/>
        </p:nvSpPr>
        <p:spPr>
          <a:xfrm>
            <a:off x="384048" y="2971800"/>
            <a:ext cx="4023360" cy="1965960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4048" y="2971800"/>
            <a:ext cx="50292" cy="19659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090672"/>
            <a:ext cx="3767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Preprocessing Steps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3337560"/>
            <a:ext cx="3703320" cy="11724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A8070"/>
                </a:solidFill>
                <a:cs typeface="Calibri" pitchFamily="34" charset="-120"/>
              </a:rPr>
              <a:t>Inflation-adjusted calculations on financial variables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A8070"/>
                </a:solidFill>
                <a:cs typeface="Calibri" pitchFamily="34" charset="-120"/>
              </a:rPr>
              <a:t>Log-transformations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 err="1">
                <a:solidFill>
                  <a:srgbClr val="8A8070"/>
                </a:solidFill>
                <a:cs typeface="Calibri" pitchFamily="34" charset="-120"/>
              </a:rPr>
              <a:t>Winsorized</a:t>
            </a:r>
            <a:r>
              <a:rPr lang="en-US" sz="1100" dirty="0">
                <a:solidFill>
                  <a:srgbClr val="8A8070"/>
                </a:solidFill>
                <a:cs typeface="Calibri" pitchFamily="34" charset="-120"/>
              </a:rPr>
              <a:t> ROI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A8070"/>
                </a:solidFill>
                <a:cs typeface="Calibri" pitchFamily="34" charset="-120"/>
              </a:rPr>
              <a:t>Budget tier splits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A8070"/>
                </a:solidFill>
                <a:cs typeface="Calibri" pitchFamily="34" charset="-120"/>
              </a:rPr>
              <a:t>One-hot encoded categorical variables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8A8070"/>
                </a:solidFill>
                <a:cs typeface="Calibri" pitchFamily="34" charset="-120"/>
              </a:rPr>
              <a:t>70/15/15 test/validate/train split</a:t>
            </a:r>
            <a:endParaRPr lang="en-US" sz="110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8531E91-2F51-A253-29A9-8BE24C9AA26B}"/>
              </a:ext>
            </a:extLst>
          </p:cNvPr>
          <p:cNvGrpSpPr/>
          <p:nvPr/>
        </p:nvGrpSpPr>
        <p:grpSpPr>
          <a:xfrm>
            <a:off x="4709160" y="2978658"/>
            <a:ext cx="4069080" cy="1956816"/>
            <a:chOff x="4681728" y="1097280"/>
            <a:chExt cx="4069080" cy="1737360"/>
          </a:xfrm>
        </p:grpSpPr>
        <p:sp>
          <p:nvSpPr>
            <p:cNvPr id="17" name="Shape 15"/>
            <p:cNvSpPr/>
            <p:nvPr/>
          </p:nvSpPr>
          <p:spPr>
            <a:xfrm>
              <a:off x="4681728" y="1097280"/>
              <a:ext cx="4069080" cy="1737360"/>
            </a:xfrm>
            <a:prstGeom prst="rect">
              <a:avLst/>
            </a:prstGeom>
            <a:solidFill>
              <a:srgbClr val="EDE7D9"/>
            </a:solidFill>
            <a:ln w="9525">
              <a:solidFill>
                <a:srgbClr val="C8BFB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16"/>
            <p:cNvSpPr/>
            <p:nvPr/>
          </p:nvSpPr>
          <p:spPr>
            <a:xfrm>
              <a:off x="4681728" y="1097280"/>
              <a:ext cx="50292" cy="1737360"/>
            </a:xfrm>
            <a:prstGeom prst="rect">
              <a:avLst/>
            </a:prstGeom>
            <a:solidFill>
              <a:srgbClr val="5A7A5C"/>
            </a:solidFill>
            <a:ln w="12700">
              <a:solidFill>
                <a:srgbClr val="5A7A5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 18"/>
            <p:cNvSpPr/>
            <p:nvPr/>
          </p:nvSpPr>
          <p:spPr>
            <a:xfrm>
              <a:off x="4846320" y="1196732"/>
              <a:ext cx="381304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D111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Final Dataset Summary</a:t>
              </a:r>
              <a:endParaRPr lang="en-US" sz="12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4913226" y="1560798"/>
              <a:ext cx="269748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8070"/>
                  </a:solidFill>
                  <a:ea typeface="Calibri" pitchFamily="34" charset="-122"/>
                  <a:cs typeface="Calibri" pitchFamily="34" charset="-120"/>
                </a:rPr>
                <a:t>Original Records</a:t>
              </a:r>
              <a:endParaRPr lang="en-US" sz="110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7544916" y="1560798"/>
              <a:ext cx="105156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 dirty="0">
                  <a:solidFill>
                    <a:srgbClr val="0D111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946,460</a:t>
              </a:r>
              <a:endParaRPr lang="en-US" sz="105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4913226" y="1789398"/>
              <a:ext cx="269748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8070"/>
                  </a:solidFill>
                  <a:ea typeface="Calibri" pitchFamily="34" charset="-122"/>
                  <a:cs typeface="Calibri" pitchFamily="34" charset="-120"/>
                </a:rPr>
                <a:t>After Cleaning</a:t>
              </a:r>
              <a:endParaRPr lang="en-US" sz="11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7544916" y="1789398"/>
              <a:ext cx="105156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 dirty="0">
                  <a:solidFill>
                    <a:srgbClr val="0D111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368,553</a:t>
              </a:r>
              <a:endParaRPr lang="en-US" sz="105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4913226" y="2017998"/>
              <a:ext cx="269748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8070"/>
                  </a:solidFill>
                  <a:ea typeface="Calibri" pitchFamily="34" charset="-122"/>
                  <a:cs typeface="Calibri" pitchFamily="34" charset="-120"/>
                </a:rPr>
                <a:t>US Scenario Subset</a:t>
              </a:r>
              <a:endParaRPr lang="en-US" sz="11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7544916" y="2017998"/>
              <a:ext cx="105156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 dirty="0">
                  <a:solidFill>
                    <a:srgbClr val="0D111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88,352</a:t>
              </a:r>
              <a:endParaRPr lang="en-US" sz="105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4913226" y="2246598"/>
              <a:ext cx="269748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A8070"/>
                  </a:solidFill>
                  <a:ea typeface="Calibri" pitchFamily="34" charset="-122"/>
                  <a:cs typeface="Calibri" pitchFamily="34" charset="-120"/>
                </a:rPr>
                <a:t>Coverage Period</a:t>
              </a:r>
              <a:endParaRPr lang="en-US" sz="11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7544916" y="2246598"/>
              <a:ext cx="1051560" cy="2103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r">
                <a:buNone/>
              </a:pPr>
              <a:r>
                <a:rPr lang="en-US" sz="1050" dirty="0">
                  <a:solidFill>
                    <a:srgbClr val="0D111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1930–2025</a:t>
              </a:r>
              <a:endParaRPr lang="en-US" sz="1050" dirty="0"/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B1E6E79-0F1E-B6C6-9F19-B4B79673E3F9}"/>
              </a:ext>
            </a:extLst>
          </p:cNvPr>
          <p:cNvGrpSpPr/>
          <p:nvPr/>
        </p:nvGrpSpPr>
        <p:grpSpPr>
          <a:xfrm>
            <a:off x="4709160" y="1094994"/>
            <a:ext cx="4069080" cy="1737360"/>
            <a:chOff x="4681728" y="2971800"/>
            <a:chExt cx="4069080" cy="1965960"/>
          </a:xfrm>
        </p:grpSpPr>
        <p:sp>
          <p:nvSpPr>
            <p:cNvPr id="31" name="Shape 29"/>
            <p:cNvSpPr/>
            <p:nvPr/>
          </p:nvSpPr>
          <p:spPr>
            <a:xfrm>
              <a:off x="4681728" y="2971800"/>
              <a:ext cx="4069080" cy="1965960"/>
            </a:xfrm>
            <a:prstGeom prst="rect">
              <a:avLst/>
            </a:prstGeom>
            <a:solidFill>
              <a:srgbClr val="EDE7D9"/>
            </a:solidFill>
            <a:ln w="9525">
              <a:solidFill>
                <a:srgbClr val="C8BFB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Shape 30"/>
            <p:cNvSpPr/>
            <p:nvPr/>
          </p:nvSpPr>
          <p:spPr>
            <a:xfrm>
              <a:off x="4681728" y="2971800"/>
              <a:ext cx="50292" cy="1965960"/>
            </a:xfrm>
            <a:prstGeom prst="rect">
              <a:avLst/>
            </a:prstGeom>
            <a:solidFill>
              <a:srgbClr val="B84C2B"/>
            </a:solidFill>
            <a:ln w="12700">
              <a:solidFill>
                <a:srgbClr val="B84C2B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 32"/>
            <p:cNvSpPr/>
            <p:nvPr/>
          </p:nvSpPr>
          <p:spPr>
            <a:xfrm>
              <a:off x="4846320" y="3090672"/>
              <a:ext cx="381304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D1117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Scenario Analysis Filtering</a:t>
              </a:r>
              <a:endParaRPr lang="en-US" sz="12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4984596" y="3557121"/>
              <a:ext cx="3611880" cy="1316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100" dirty="0">
                  <a:solidFill>
                    <a:srgbClr val="8A8070"/>
                  </a:solidFill>
                  <a:ea typeface="Calibri" pitchFamily="34" charset="-122"/>
                  <a:cs typeface="Calibri" pitchFamily="34" charset="-120"/>
                </a:rPr>
                <a:t>Includes only: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8A8070"/>
                  </a:solidFill>
                  <a:ea typeface="Calibri" pitchFamily="34" charset="-122"/>
                  <a:cs typeface="Calibri" pitchFamily="34" charset="-120"/>
                </a:rPr>
                <a:t>USA productions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8A8070"/>
                  </a:solidFill>
                  <a:ea typeface="Calibri" pitchFamily="34" charset="-122"/>
                  <a:cs typeface="Calibri" pitchFamily="34" charset="-120"/>
                </a:rPr>
                <a:t>2000-2025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rgbClr val="8A8070"/>
                  </a:solidFill>
                  <a:ea typeface="Calibri" pitchFamily="34" charset="-122"/>
                  <a:cs typeface="Calibri" pitchFamily="34" charset="-120"/>
                </a:rPr>
                <a:t>Budget &gt; $10K</a:t>
              </a:r>
              <a:endParaRPr lang="en-US" sz="11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1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1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1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endParaRPr lang="en-US" sz="11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5010912" y="4343400"/>
              <a:ext cx="3611880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endParaRPr lang="en-US" sz="1050" dirty="0"/>
            </a:p>
          </p:txBody>
        </p:sp>
      </p:grpSp>
      <p:sp>
        <p:nvSpPr>
          <p:cNvPr id="45" name="Shape 43"/>
          <p:cNvSpPr/>
          <p:nvPr/>
        </p:nvSpPr>
        <p:spPr>
          <a:xfrm>
            <a:off x="0" y="5084064"/>
            <a:ext cx="9144000" cy="1828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dirty="0">
                <a:solidFill>
                  <a:srgbClr val="C8B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298448" y="41675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 (EDA)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84048" y="960120"/>
            <a:ext cx="8366760" cy="13716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364907"/>
            <a:ext cx="2697480" cy="2212848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4048" y="1364907"/>
            <a:ext cx="50292" cy="2212848"/>
          </a:xfrm>
          <a:prstGeom prst="rect">
            <a:avLst/>
          </a:prstGeom>
          <a:solidFill>
            <a:srgbClr val="1B6B6E"/>
          </a:solidFill>
          <a:ln w="12700">
            <a:solidFill>
              <a:srgbClr val="1B6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526524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Distribution Analysis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748955"/>
            <a:ext cx="2395728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Histograms and box plots characterized runtime, popularity, vote average, vote count, budget, revenue, and profit. Strong positive skew in monetary variables → log transformations applied across all models.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36976" y="1364907"/>
            <a:ext cx="2697480" cy="2212848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36976" y="1364907"/>
            <a:ext cx="50292" cy="2212848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12998" y="1526669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Correlation Matrix &amp; Heatmap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01568" y="1748955"/>
            <a:ext cx="2395728" cy="1412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revealed moderate budget–revenue correlation. Vote count correlates more strongly with popularity than vote average — audience reach and quality are partially decoupled.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9904" y="1364907"/>
            <a:ext cx="2697480" cy="2212848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89904" y="1364907"/>
            <a:ext cx="50292" cy="2212848"/>
          </a:xfrm>
          <a:prstGeom prst="rect">
            <a:avLst/>
          </a:prstGeom>
          <a:solidFill>
            <a:srgbClr val="B84C2B"/>
          </a:solidFill>
          <a:ln w="12700">
            <a:solidFill>
              <a:srgbClr val="B84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54496" y="1526524"/>
            <a:ext cx="2441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Scatter Plots &amp; Trends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54496" y="1748955"/>
            <a:ext cx="2395728" cy="11354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vs. ROI scatter plots confirmed non-linear diminishing returns above ~$10M. Lagged volume predicts rating decline (genre fatigue).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5084064"/>
            <a:ext cx="9144000" cy="1828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dirty="0">
                <a:solidFill>
                  <a:srgbClr val="C8B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298448" y="4316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Model Statistics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84048" y="960120"/>
            <a:ext cx="8366760" cy="13716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097280"/>
            <a:ext cx="8366760" cy="640080"/>
          </a:xfrm>
          <a:prstGeom prst="rect">
            <a:avLst/>
          </a:prstGeom>
          <a:solidFill>
            <a:srgbClr val="105666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pPr algn="ctr"/>
            <a:r>
              <a:rPr lang="en-US" sz="1100" b="1" dirty="0">
                <a:solidFill>
                  <a:srgbClr val="F5F1E8"/>
                </a:solidFill>
              </a:rPr>
              <a:t>Linear and Logistic Regression</a:t>
            </a:r>
          </a:p>
          <a:p>
            <a:pPr algn="ctr"/>
            <a:r>
              <a:rPr lang="en-US" sz="1100" dirty="0">
                <a:solidFill>
                  <a:srgbClr val="F5F1E8"/>
                </a:solidFill>
              </a:rPr>
              <a:t>Across all four research questions and scenario analysis, a consistent modeling strategy was applied: </a:t>
            </a:r>
          </a:p>
          <a:p>
            <a:pPr algn="ctr"/>
            <a:r>
              <a:rPr lang="en-US" sz="1100" dirty="0">
                <a:solidFill>
                  <a:srgbClr val="F5F1E8"/>
                </a:solidFill>
              </a:rPr>
              <a:t>a simple, interpretable baseline model was trained first, followed by a Gradient Boosting Machine (GBM) as the advanced model.</a:t>
            </a:r>
          </a:p>
        </p:txBody>
      </p:sp>
      <p:sp>
        <p:nvSpPr>
          <p:cNvPr id="19" name="Shape 17"/>
          <p:cNvSpPr/>
          <p:nvPr/>
        </p:nvSpPr>
        <p:spPr>
          <a:xfrm>
            <a:off x="384048" y="1845900"/>
            <a:ext cx="4069080" cy="1508760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84048" y="1845900"/>
            <a:ext cx="50292" cy="1508760"/>
          </a:xfrm>
          <a:prstGeom prst="rect">
            <a:avLst/>
          </a:prstGeom>
          <a:solidFill>
            <a:srgbClr val="1B6B6E"/>
          </a:solidFill>
          <a:ln w="12700">
            <a:solidFill>
              <a:srgbClr val="1B6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2039490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50800" y="2496834"/>
            <a:ext cx="110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460703" y="2504268"/>
            <a:ext cx="110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61.2%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50800" y="2716290"/>
            <a:ext cx="110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460703" y="2723724"/>
            <a:ext cx="110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0.612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50800" y="2935746"/>
            <a:ext cx="11183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451299" y="2950614"/>
            <a:ext cx="11183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0.771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681728" y="1845900"/>
            <a:ext cx="4069080" cy="1508760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81728" y="1845900"/>
            <a:ext cx="50292" cy="15087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46320" y="2039490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Regression (popularity/rating)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48485" y="2511629"/>
            <a:ext cx="1096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540974" y="2511629"/>
            <a:ext cx="14824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0.397 / 1.229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448485" y="2731085"/>
            <a:ext cx="1096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623824" y="2731085"/>
            <a:ext cx="13996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0.477 / 1.655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48485" y="2950541"/>
            <a:ext cx="1096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23824" y="2950541"/>
            <a:ext cx="13996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0.236 / 0.102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384048" y="3473532"/>
            <a:ext cx="4069080" cy="1508760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84048" y="3473532"/>
            <a:ext cx="50292" cy="1508760"/>
          </a:xfrm>
          <a:prstGeom prst="rect">
            <a:avLst/>
          </a:prstGeom>
          <a:solidFill>
            <a:srgbClr val="B84C2B"/>
          </a:solidFill>
          <a:ln w="12700">
            <a:solidFill>
              <a:srgbClr val="B84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48640" y="354951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48640" y="3719232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Regression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681728" y="3473532"/>
            <a:ext cx="4069080" cy="1508760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681728" y="3473532"/>
            <a:ext cx="50292" cy="1508760"/>
          </a:xfrm>
          <a:prstGeom prst="rect">
            <a:avLst/>
          </a:prstGeom>
          <a:solidFill>
            <a:srgbClr val="5A7A5C"/>
          </a:solidFill>
          <a:ln w="12700">
            <a:solidFill>
              <a:srgbClr val="5A7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855464" y="3735956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0" y="5084064"/>
            <a:ext cx="9144000" cy="1828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33">
            <a:extLst>
              <a:ext uri="{FF2B5EF4-FFF2-40B4-BE49-F238E27FC236}">
                <a16:creationId xmlns:a16="http://schemas.microsoft.com/office/drawing/2014/main" id="{7364DBB9-5E3A-7695-D536-1E150D87905D}"/>
              </a:ext>
            </a:extLst>
          </p:cNvPr>
          <p:cNvSpPr/>
          <p:nvPr/>
        </p:nvSpPr>
        <p:spPr>
          <a:xfrm>
            <a:off x="5453915" y="4084020"/>
            <a:ext cx="1096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400" dirty="0"/>
          </a:p>
        </p:txBody>
      </p:sp>
      <p:sp>
        <p:nvSpPr>
          <p:cNvPr id="77" name="Text 34">
            <a:extLst>
              <a:ext uri="{FF2B5EF4-FFF2-40B4-BE49-F238E27FC236}">
                <a16:creationId xmlns:a16="http://schemas.microsoft.com/office/drawing/2014/main" id="{4ED5EEFC-7150-DAF4-5CB0-DB8E6F5F8524}"/>
              </a:ext>
            </a:extLst>
          </p:cNvPr>
          <p:cNvSpPr/>
          <p:nvPr/>
        </p:nvSpPr>
        <p:spPr>
          <a:xfrm>
            <a:off x="6923536" y="4084020"/>
            <a:ext cx="1096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57.9%</a:t>
            </a:r>
            <a:endParaRPr lang="en-US" sz="1400" dirty="0"/>
          </a:p>
        </p:txBody>
      </p:sp>
      <p:sp>
        <p:nvSpPr>
          <p:cNvPr id="78" name="Text 35">
            <a:extLst>
              <a:ext uri="{FF2B5EF4-FFF2-40B4-BE49-F238E27FC236}">
                <a16:creationId xmlns:a16="http://schemas.microsoft.com/office/drawing/2014/main" id="{F00EC797-380E-6CCC-1B62-58B63CDF2865}"/>
              </a:ext>
            </a:extLst>
          </p:cNvPr>
          <p:cNvSpPr/>
          <p:nvPr/>
        </p:nvSpPr>
        <p:spPr>
          <a:xfrm>
            <a:off x="5453915" y="4303476"/>
            <a:ext cx="1096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</a:t>
            </a:r>
            <a:endParaRPr lang="en-US" sz="1400" dirty="0"/>
          </a:p>
        </p:txBody>
      </p:sp>
      <p:sp>
        <p:nvSpPr>
          <p:cNvPr id="79" name="Text 36">
            <a:extLst>
              <a:ext uri="{FF2B5EF4-FFF2-40B4-BE49-F238E27FC236}">
                <a16:creationId xmlns:a16="http://schemas.microsoft.com/office/drawing/2014/main" id="{6C606CAF-808B-6139-87B4-BDE9EEE390DC}"/>
              </a:ext>
            </a:extLst>
          </p:cNvPr>
          <p:cNvSpPr/>
          <p:nvPr/>
        </p:nvSpPr>
        <p:spPr>
          <a:xfrm>
            <a:off x="6923536" y="4303476"/>
            <a:ext cx="1096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0.560</a:t>
            </a:r>
            <a:endParaRPr lang="en-US" sz="1400" dirty="0"/>
          </a:p>
        </p:txBody>
      </p:sp>
      <p:sp>
        <p:nvSpPr>
          <p:cNvPr id="80" name="Text 37">
            <a:extLst>
              <a:ext uri="{FF2B5EF4-FFF2-40B4-BE49-F238E27FC236}">
                <a16:creationId xmlns:a16="http://schemas.microsoft.com/office/drawing/2014/main" id="{9B7A2E24-D063-C154-C521-14E5AA00A1A2}"/>
              </a:ext>
            </a:extLst>
          </p:cNvPr>
          <p:cNvSpPr/>
          <p:nvPr/>
        </p:nvSpPr>
        <p:spPr>
          <a:xfrm>
            <a:off x="5453915" y="4522932"/>
            <a:ext cx="1096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</a:t>
            </a:r>
            <a:endParaRPr lang="en-US" sz="1400" dirty="0"/>
          </a:p>
        </p:txBody>
      </p:sp>
      <p:sp>
        <p:nvSpPr>
          <p:cNvPr id="81" name="Text 38">
            <a:extLst>
              <a:ext uri="{FF2B5EF4-FFF2-40B4-BE49-F238E27FC236}">
                <a16:creationId xmlns:a16="http://schemas.microsoft.com/office/drawing/2014/main" id="{7C90DDF2-EA52-DBA8-A0B0-822A85686772}"/>
              </a:ext>
            </a:extLst>
          </p:cNvPr>
          <p:cNvSpPr/>
          <p:nvPr/>
        </p:nvSpPr>
        <p:spPr>
          <a:xfrm>
            <a:off x="6923536" y="4522932"/>
            <a:ext cx="1096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0.766</a:t>
            </a:r>
            <a:endParaRPr lang="en-US" sz="1400" dirty="0"/>
          </a:p>
        </p:txBody>
      </p:sp>
      <p:sp>
        <p:nvSpPr>
          <p:cNvPr id="82" name="Text 7">
            <a:extLst>
              <a:ext uri="{FF2B5EF4-FFF2-40B4-BE49-F238E27FC236}">
                <a16:creationId xmlns:a16="http://schemas.microsoft.com/office/drawing/2014/main" id="{AC8FAAF0-586C-FF9B-DD76-EB8708AB3D6D}"/>
              </a:ext>
            </a:extLst>
          </p:cNvPr>
          <p:cNvSpPr/>
          <p:nvPr/>
        </p:nvSpPr>
        <p:spPr>
          <a:xfrm>
            <a:off x="548640" y="188864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800" dirty="0"/>
          </a:p>
        </p:txBody>
      </p:sp>
      <p:sp>
        <p:nvSpPr>
          <p:cNvPr id="83" name="Text 7">
            <a:extLst>
              <a:ext uri="{FF2B5EF4-FFF2-40B4-BE49-F238E27FC236}">
                <a16:creationId xmlns:a16="http://schemas.microsoft.com/office/drawing/2014/main" id="{8AD864E7-A95B-6E44-BDC6-D7E7AF32B957}"/>
              </a:ext>
            </a:extLst>
          </p:cNvPr>
          <p:cNvSpPr/>
          <p:nvPr/>
        </p:nvSpPr>
        <p:spPr>
          <a:xfrm>
            <a:off x="4846320" y="188344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800" dirty="0"/>
          </a:p>
        </p:txBody>
      </p:sp>
      <p:sp>
        <p:nvSpPr>
          <p:cNvPr id="84" name="Text 21">
            <a:extLst>
              <a:ext uri="{FF2B5EF4-FFF2-40B4-BE49-F238E27FC236}">
                <a16:creationId xmlns:a16="http://schemas.microsoft.com/office/drawing/2014/main" id="{C80B5634-1B0D-2B7D-86D5-B23D55023383}"/>
              </a:ext>
            </a:extLst>
          </p:cNvPr>
          <p:cNvSpPr/>
          <p:nvPr/>
        </p:nvSpPr>
        <p:spPr>
          <a:xfrm>
            <a:off x="1147085" y="4128626"/>
            <a:ext cx="110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</a:t>
            </a:r>
            <a:endParaRPr lang="en-US" sz="140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54F8F89C-185D-D58E-5496-17DAE146C7EB}"/>
              </a:ext>
            </a:extLst>
          </p:cNvPr>
          <p:cNvSpPr/>
          <p:nvPr/>
        </p:nvSpPr>
        <p:spPr>
          <a:xfrm>
            <a:off x="2456988" y="4136060"/>
            <a:ext cx="110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0.4595</a:t>
            </a:r>
            <a:endParaRPr lang="en-US" sz="1400" dirty="0"/>
          </a:p>
        </p:txBody>
      </p:sp>
      <p:sp>
        <p:nvSpPr>
          <p:cNvPr id="86" name="Text 23">
            <a:extLst>
              <a:ext uri="{FF2B5EF4-FFF2-40B4-BE49-F238E27FC236}">
                <a16:creationId xmlns:a16="http://schemas.microsoft.com/office/drawing/2014/main" id="{7087385A-E8B2-7AA7-DFE7-CCEE82A85571}"/>
              </a:ext>
            </a:extLst>
          </p:cNvPr>
          <p:cNvSpPr/>
          <p:nvPr/>
        </p:nvSpPr>
        <p:spPr>
          <a:xfrm>
            <a:off x="1147085" y="4348082"/>
            <a:ext cx="110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</a:t>
            </a:r>
            <a:endParaRPr lang="en-US" sz="1400" dirty="0"/>
          </a:p>
        </p:txBody>
      </p:sp>
      <p:sp>
        <p:nvSpPr>
          <p:cNvPr id="87" name="Text 24">
            <a:extLst>
              <a:ext uri="{FF2B5EF4-FFF2-40B4-BE49-F238E27FC236}">
                <a16:creationId xmlns:a16="http://schemas.microsoft.com/office/drawing/2014/main" id="{9CACF1AB-3C18-C8EC-93EA-36C030B4F3C5}"/>
              </a:ext>
            </a:extLst>
          </p:cNvPr>
          <p:cNvSpPr/>
          <p:nvPr/>
        </p:nvSpPr>
        <p:spPr>
          <a:xfrm>
            <a:off x="2456988" y="4355516"/>
            <a:ext cx="110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0.6242</a:t>
            </a:r>
            <a:endParaRPr lang="en-US" sz="1400" dirty="0"/>
          </a:p>
        </p:txBody>
      </p:sp>
      <p:sp>
        <p:nvSpPr>
          <p:cNvPr id="88" name="Text 25">
            <a:extLst>
              <a:ext uri="{FF2B5EF4-FFF2-40B4-BE49-F238E27FC236}">
                <a16:creationId xmlns:a16="http://schemas.microsoft.com/office/drawing/2014/main" id="{6B4913E0-9978-7443-C2B2-9CDD58E2BE94}"/>
              </a:ext>
            </a:extLst>
          </p:cNvPr>
          <p:cNvSpPr/>
          <p:nvPr/>
        </p:nvSpPr>
        <p:spPr>
          <a:xfrm>
            <a:off x="1147085" y="4567538"/>
            <a:ext cx="11183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:</a:t>
            </a:r>
            <a:endParaRPr lang="en-US" sz="1400" dirty="0"/>
          </a:p>
        </p:txBody>
      </p:sp>
      <p:sp>
        <p:nvSpPr>
          <p:cNvPr id="89" name="Text 26">
            <a:extLst>
              <a:ext uri="{FF2B5EF4-FFF2-40B4-BE49-F238E27FC236}">
                <a16:creationId xmlns:a16="http://schemas.microsoft.com/office/drawing/2014/main" id="{81A59B6D-EB2C-B8BF-5912-5421D6DA559B}"/>
              </a:ext>
            </a:extLst>
          </p:cNvPr>
          <p:cNvSpPr/>
          <p:nvPr/>
        </p:nvSpPr>
        <p:spPr>
          <a:xfrm>
            <a:off x="2447584" y="4582406"/>
            <a:ext cx="11183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0.3608</a:t>
            </a:r>
            <a:endParaRPr lang="en-US" sz="1400" dirty="0"/>
          </a:p>
        </p:txBody>
      </p:sp>
      <p:sp>
        <p:nvSpPr>
          <p:cNvPr id="90" name="Text 43">
            <a:extLst>
              <a:ext uri="{FF2B5EF4-FFF2-40B4-BE49-F238E27FC236}">
                <a16:creationId xmlns:a16="http://schemas.microsoft.com/office/drawing/2014/main" id="{7AA21BCB-45E2-4C64-3D53-418F535ECEDB}"/>
              </a:ext>
            </a:extLst>
          </p:cNvPr>
          <p:cNvSpPr/>
          <p:nvPr/>
        </p:nvSpPr>
        <p:spPr>
          <a:xfrm>
            <a:off x="4855464" y="3554192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8070"/>
                </a:solidFill>
                <a:latin typeface="Courier New" pitchFamily="34" charset="0"/>
                <a:cs typeface="Courier New" pitchFamily="34" charset="-120"/>
              </a:rPr>
              <a:t>Scenario Analysis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986800-48B0-DF8D-CE47-E9F2B88B2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2EF644E-6ACB-2860-D63D-2F1622B2398A}"/>
              </a:ext>
            </a:extLst>
          </p:cNvPr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533578B-F68D-70A6-D04B-BA0ABC588AA5}"/>
              </a:ext>
            </a:extLst>
          </p:cNvPr>
          <p:cNvSpPr/>
          <p:nvPr/>
        </p:nvSpPr>
        <p:spPr>
          <a:xfrm>
            <a:off x="384048" y="201168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dirty="0">
                <a:solidFill>
                  <a:srgbClr val="C8B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5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0CBA1FF-194D-AB87-3816-6294EDCEC1AC}"/>
              </a:ext>
            </a:extLst>
          </p:cNvPr>
          <p:cNvSpPr/>
          <p:nvPr/>
        </p:nvSpPr>
        <p:spPr>
          <a:xfrm>
            <a:off x="1298448" y="4316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Model Implementation Statistics</a:t>
            </a:r>
            <a:endParaRPr lang="en-US" sz="2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E508FFB-7172-FA90-5A3E-7C1F332C0C5F}"/>
              </a:ext>
            </a:extLst>
          </p:cNvPr>
          <p:cNvSpPr/>
          <p:nvPr/>
        </p:nvSpPr>
        <p:spPr>
          <a:xfrm>
            <a:off x="384048" y="960120"/>
            <a:ext cx="8366760" cy="13716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D29B2FB2-4663-F63D-685C-739AE123E463}"/>
              </a:ext>
            </a:extLst>
          </p:cNvPr>
          <p:cNvSpPr/>
          <p:nvPr/>
        </p:nvSpPr>
        <p:spPr>
          <a:xfrm>
            <a:off x="384048" y="1845900"/>
            <a:ext cx="4069080" cy="1508760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4CAEF4A0-51D2-1363-2A75-668D3AE48A0C}"/>
              </a:ext>
            </a:extLst>
          </p:cNvPr>
          <p:cNvSpPr/>
          <p:nvPr/>
        </p:nvSpPr>
        <p:spPr>
          <a:xfrm>
            <a:off x="384048" y="1845900"/>
            <a:ext cx="50292" cy="1508760"/>
          </a:xfrm>
          <a:prstGeom prst="rect">
            <a:avLst/>
          </a:prstGeom>
          <a:solidFill>
            <a:srgbClr val="1B6B6E"/>
          </a:solidFill>
          <a:ln w="12700">
            <a:solidFill>
              <a:srgbClr val="1B6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F409FDFF-0EA4-A855-FA94-7551E2218C0D}"/>
              </a:ext>
            </a:extLst>
          </p:cNvPr>
          <p:cNvSpPr/>
          <p:nvPr/>
        </p:nvSpPr>
        <p:spPr>
          <a:xfrm>
            <a:off x="548640" y="2039490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Boosting</a:t>
            </a:r>
            <a:endParaRPr lang="en-US" sz="16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D67F0183-6569-B7A3-4C54-43DAF4994E96}"/>
              </a:ext>
            </a:extLst>
          </p:cNvPr>
          <p:cNvSpPr/>
          <p:nvPr/>
        </p:nvSpPr>
        <p:spPr>
          <a:xfrm>
            <a:off x="927778" y="2496834"/>
            <a:ext cx="596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18DE743A-6BA0-DEA6-F2B1-A73FBC869759}"/>
              </a:ext>
            </a:extLst>
          </p:cNvPr>
          <p:cNvSpPr/>
          <p:nvPr/>
        </p:nvSpPr>
        <p:spPr>
          <a:xfrm>
            <a:off x="1526828" y="2504268"/>
            <a:ext cx="5113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84.1%</a:t>
            </a:r>
            <a:endParaRPr lang="en-US" sz="10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CA7C01EA-4E68-B878-E77C-BF9ADF78830D}"/>
              </a:ext>
            </a:extLst>
          </p:cNvPr>
          <p:cNvSpPr/>
          <p:nvPr/>
        </p:nvSpPr>
        <p:spPr>
          <a:xfrm>
            <a:off x="927778" y="2634516"/>
            <a:ext cx="5975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2090D04-D9C2-BED0-32F9-B5439C723660}"/>
              </a:ext>
            </a:extLst>
          </p:cNvPr>
          <p:cNvSpPr/>
          <p:nvPr/>
        </p:nvSpPr>
        <p:spPr>
          <a:xfrm>
            <a:off x="1525330" y="2641950"/>
            <a:ext cx="51289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0.840</a:t>
            </a:r>
            <a:endParaRPr lang="en-US" sz="10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12BB8F6B-D036-0327-D17E-3ADDC24A0CE9}"/>
              </a:ext>
            </a:extLst>
          </p:cNvPr>
          <p:cNvSpPr/>
          <p:nvPr/>
        </p:nvSpPr>
        <p:spPr>
          <a:xfrm>
            <a:off x="927778" y="2787066"/>
            <a:ext cx="5975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</a:t>
            </a:r>
            <a:endParaRPr lang="en-US" sz="10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B4C842B4-BBA4-D58A-6916-65A6CA9EC6C7}"/>
              </a:ext>
            </a:extLst>
          </p:cNvPr>
          <p:cNvSpPr/>
          <p:nvPr/>
        </p:nvSpPr>
        <p:spPr>
          <a:xfrm>
            <a:off x="1525328" y="2801934"/>
            <a:ext cx="5128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0.942</a:t>
            </a:r>
            <a:endParaRPr lang="en-US" sz="1000" dirty="0"/>
          </a:p>
        </p:txBody>
      </p:sp>
      <p:sp>
        <p:nvSpPr>
          <p:cNvPr id="31" name="Shape 29">
            <a:extLst>
              <a:ext uri="{FF2B5EF4-FFF2-40B4-BE49-F238E27FC236}">
                <a16:creationId xmlns:a16="http://schemas.microsoft.com/office/drawing/2014/main" id="{D4BDCD85-0F2D-6E9C-1DA0-1F2B3DA116B5}"/>
              </a:ext>
            </a:extLst>
          </p:cNvPr>
          <p:cNvSpPr/>
          <p:nvPr/>
        </p:nvSpPr>
        <p:spPr>
          <a:xfrm>
            <a:off x="4681728" y="1845900"/>
            <a:ext cx="4069080" cy="1508760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DA588AE8-387B-8B95-584E-25687949211E}"/>
              </a:ext>
            </a:extLst>
          </p:cNvPr>
          <p:cNvSpPr/>
          <p:nvPr/>
        </p:nvSpPr>
        <p:spPr>
          <a:xfrm>
            <a:off x="4681728" y="1845900"/>
            <a:ext cx="50292" cy="150876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B8087D68-AD0B-8993-5F7F-E257FA17A470}"/>
              </a:ext>
            </a:extLst>
          </p:cNvPr>
          <p:cNvSpPr/>
          <p:nvPr/>
        </p:nvSpPr>
        <p:spPr>
          <a:xfrm>
            <a:off x="4846320" y="2039490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GBM Regressor (popularity/rating)</a:t>
            </a:r>
            <a:endParaRPr lang="en-US" sz="16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E1E3D85C-A93E-43A8-78B0-A424205F339F}"/>
              </a:ext>
            </a:extLst>
          </p:cNvPr>
          <p:cNvSpPr/>
          <p:nvPr/>
        </p:nvSpPr>
        <p:spPr>
          <a:xfrm>
            <a:off x="5448485" y="2511629"/>
            <a:ext cx="1096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</a:t>
            </a:r>
            <a:endParaRPr lang="en-US" sz="14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6E354472-02BF-3DA0-BBF5-7667EAB263AD}"/>
              </a:ext>
            </a:extLst>
          </p:cNvPr>
          <p:cNvSpPr/>
          <p:nvPr/>
        </p:nvSpPr>
        <p:spPr>
          <a:xfrm>
            <a:off x="6540974" y="2511629"/>
            <a:ext cx="148247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0.377 / 1.192</a:t>
            </a:r>
            <a:endParaRPr lang="en-US" sz="14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044B642B-00D5-F6B9-2B73-FD1BDD9B977C}"/>
              </a:ext>
            </a:extLst>
          </p:cNvPr>
          <p:cNvSpPr/>
          <p:nvPr/>
        </p:nvSpPr>
        <p:spPr>
          <a:xfrm>
            <a:off x="5448485" y="2731085"/>
            <a:ext cx="1096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</a:t>
            </a:r>
            <a:endParaRPr lang="en-US" sz="14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CD320B5E-81BE-E3B6-35C4-86396E3E977B}"/>
              </a:ext>
            </a:extLst>
          </p:cNvPr>
          <p:cNvSpPr/>
          <p:nvPr/>
        </p:nvSpPr>
        <p:spPr>
          <a:xfrm>
            <a:off x="6623824" y="2731085"/>
            <a:ext cx="13996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0.456 / 1.615</a:t>
            </a:r>
            <a:endParaRPr lang="en-US" sz="14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4CC08959-AAC1-9C4C-9282-5289BD48D8FB}"/>
              </a:ext>
            </a:extLst>
          </p:cNvPr>
          <p:cNvSpPr/>
          <p:nvPr/>
        </p:nvSpPr>
        <p:spPr>
          <a:xfrm>
            <a:off x="5448485" y="2950541"/>
            <a:ext cx="10962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R²:</a:t>
            </a:r>
            <a:endParaRPr lang="en-US" sz="14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E08DC112-59CE-A031-C537-529E96B9E4FE}"/>
              </a:ext>
            </a:extLst>
          </p:cNvPr>
          <p:cNvSpPr/>
          <p:nvPr/>
        </p:nvSpPr>
        <p:spPr>
          <a:xfrm>
            <a:off x="6623824" y="2950541"/>
            <a:ext cx="139962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0.299 / 0.145</a:t>
            </a:r>
            <a:endParaRPr lang="en-US" sz="1400" dirty="0"/>
          </a:p>
        </p:txBody>
      </p:sp>
      <p:sp>
        <p:nvSpPr>
          <p:cNvPr id="43" name="Shape 41">
            <a:extLst>
              <a:ext uri="{FF2B5EF4-FFF2-40B4-BE49-F238E27FC236}">
                <a16:creationId xmlns:a16="http://schemas.microsoft.com/office/drawing/2014/main" id="{C85D6D58-70A5-069F-921E-87ED20777C86}"/>
              </a:ext>
            </a:extLst>
          </p:cNvPr>
          <p:cNvSpPr/>
          <p:nvPr/>
        </p:nvSpPr>
        <p:spPr>
          <a:xfrm>
            <a:off x="384048" y="3473532"/>
            <a:ext cx="4069080" cy="1508760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>
            <a:extLst>
              <a:ext uri="{FF2B5EF4-FFF2-40B4-BE49-F238E27FC236}">
                <a16:creationId xmlns:a16="http://schemas.microsoft.com/office/drawing/2014/main" id="{5EF3ED44-FE85-E97B-2F09-6D83B585398D}"/>
              </a:ext>
            </a:extLst>
          </p:cNvPr>
          <p:cNvSpPr/>
          <p:nvPr/>
        </p:nvSpPr>
        <p:spPr>
          <a:xfrm>
            <a:off x="384048" y="3473532"/>
            <a:ext cx="50292" cy="1508760"/>
          </a:xfrm>
          <a:prstGeom prst="rect">
            <a:avLst/>
          </a:prstGeom>
          <a:solidFill>
            <a:srgbClr val="B84C2B"/>
          </a:solidFill>
          <a:ln w="12700">
            <a:solidFill>
              <a:srgbClr val="B84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9EB79D69-653F-9E9C-F230-C276446E42FD}"/>
              </a:ext>
            </a:extLst>
          </p:cNvPr>
          <p:cNvSpPr/>
          <p:nvPr/>
        </p:nvSpPr>
        <p:spPr>
          <a:xfrm>
            <a:off x="548640" y="3549510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Q4</a:t>
            </a:r>
            <a:endParaRPr lang="en-US" sz="800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0B6E2544-11E2-0B7D-DB86-A1E1515325D8}"/>
              </a:ext>
            </a:extLst>
          </p:cNvPr>
          <p:cNvSpPr/>
          <p:nvPr/>
        </p:nvSpPr>
        <p:spPr>
          <a:xfrm>
            <a:off x="548640" y="3719232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GBM Regressor</a:t>
            </a:r>
            <a:endParaRPr lang="en-US" sz="1600" dirty="0"/>
          </a:p>
        </p:txBody>
      </p:sp>
      <p:sp>
        <p:nvSpPr>
          <p:cNvPr id="55" name="Shape 53">
            <a:extLst>
              <a:ext uri="{FF2B5EF4-FFF2-40B4-BE49-F238E27FC236}">
                <a16:creationId xmlns:a16="http://schemas.microsoft.com/office/drawing/2014/main" id="{DAAA0D3C-B6E0-5B19-4B8D-CBE3749EE6DF}"/>
              </a:ext>
            </a:extLst>
          </p:cNvPr>
          <p:cNvSpPr/>
          <p:nvPr/>
        </p:nvSpPr>
        <p:spPr>
          <a:xfrm>
            <a:off x="4681728" y="3473532"/>
            <a:ext cx="4069080" cy="1508760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>
            <a:extLst>
              <a:ext uri="{FF2B5EF4-FFF2-40B4-BE49-F238E27FC236}">
                <a16:creationId xmlns:a16="http://schemas.microsoft.com/office/drawing/2014/main" id="{A880C484-5231-30AF-273F-56B86A66D29E}"/>
              </a:ext>
            </a:extLst>
          </p:cNvPr>
          <p:cNvSpPr/>
          <p:nvPr/>
        </p:nvSpPr>
        <p:spPr>
          <a:xfrm>
            <a:off x="4681728" y="3473532"/>
            <a:ext cx="50292" cy="1508760"/>
          </a:xfrm>
          <a:prstGeom prst="rect">
            <a:avLst/>
          </a:prstGeom>
          <a:solidFill>
            <a:srgbClr val="5A7A5C"/>
          </a:solidFill>
          <a:ln w="12700">
            <a:solidFill>
              <a:srgbClr val="5A7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>
            <a:extLst>
              <a:ext uri="{FF2B5EF4-FFF2-40B4-BE49-F238E27FC236}">
                <a16:creationId xmlns:a16="http://schemas.microsoft.com/office/drawing/2014/main" id="{9F5FF4B6-35DC-4E61-D0BC-AB848F05A93A}"/>
              </a:ext>
            </a:extLst>
          </p:cNvPr>
          <p:cNvSpPr/>
          <p:nvPr/>
        </p:nvSpPr>
        <p:spPr>
          <a:xfrm>
            <a:off x="0" y="5084064"/>
            <a:ext cx="9144000" cy="1828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Text 7">
            <a:extLst>
              <a:ext uri="{FF2B5EF4-FFF2-40B4-BE49-F238E27FC236}">
                <a16:creationId xmlns:a16="http://schemas.microsoft.com/office/drawing/2014/main" id="{2E5B0379-6961-DDB1-7BB2-7BE0340980B8}"/>
              </a:ext>
            </a:extLst>
          </p:cNvPr>
          <p:cNvSpPr/>
          <p:nvPr/>
        </p:nvSpPr>
        <p:spPr>
          <a:xfrm>
            <a:off x="548640" y="1888642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</a:t>
            </a:r>
            <a:endParaRPr lang="en-US" sz="800" dirty="0"/>
          </a:p>
        </p:txBody>
      </p:sp>
      <p:sp>
        <p:nvSpPr>
          <p:cNvPr id="83" name="Text 7">
            <a:extLst>
              <a:ext uri="{FF2B5EF4-FFF2-40B4-BE49-F238E27FC236}">
                <a16:creationId xmlns:a16="http://schemas.microsoft.com/office/drawing/2014/main" id="{7C34F934-75E2-02E0-08BC-DF3D8590E152}"/>
              </a:ext>
            </a:extLst>
          </p:cNvPr>
          <p:cNvSpPr/>
          <p:nvPr/>
        </p:nvSpPr>
        <p:spPr>
          <a:xfrm>
            <a:off x="4846320" y="1883448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Q2</a:t>
            </a:r>
            <a:endParaRPr lang="en-US" sz="800" dirty="0"/>
          </a:p>
        </p:txBody>
      </p:sp>
      <p:sp>
        <p:nvSpPr>
          <p:cNvPr id="84" name="Text 21">
            <a:extLst>
              <a:ext uri="{FF2B5EF4-FFF2-40B4-BE49-F238E27FC236}">
                <a16:creationId xmlns:a16="http://schemas.microsoft.com/office/drawing/2014/main" id="{904B811F-C84D-6119-F103-D74DB8D69DF5}"/>
              </a:ext>
            </a:extLst>
          </p:cNvPr>
          <p:cNvSpPr/>
          <p:nvPr/>
        </p:nvSpPr>
        <p:spPr>
          <a:xfrm>
            <a:off x="1147085" y="4128626"/>
            <a:ext cx="110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</a:t>
            </a:r>
            <a:endParaRPr lang="en-US" sz="140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1548DCAE-BB8B-FC97-EF11-0F9D7798B241}"/>
              </a:ext>
            </a:extLst>
          </p:cNvPr>
          <p:cNvSpPr/>
          <p:nvPr/>
        </p:nvSpPr>
        <p:spPr>
          <a:xfrm>
            <a:off x="2456988" y="4136060"/>
            <a:ext cx="110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0.291</a:t>
            </a:r>
            <a:endParaRPr lang="en-US" sz="1400" dirty="0"/>
          </a:p>
        </p:txBody>
      </p:sp>
      <p:sp>
        <p:nvSpPr>
          <p:cNvPr id="86" name="Text 23">
            <a:extLst>
              <a:ext uri="{FF2B5EF4-FFF2-40B4-BE49-F238E27FC236}">
                <a16:creationId xmlns:a16="http://schemas.microsoft.com/office/drawing/2014/main" id="{55206950-DD2B-6C4A-DDEE-79FAD11AFFE0}"/>
              </a:ext>
            </a:extLst>
          </p:cNvPr>
          <p:cNvSpPr/>
          <p:nvPr/>
        </p:nvSpPr>
        <p:spPr>
          <a:xfrm>
            <a:off x="1147085" y="4348082"/>
            <a:ext cx="110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</a:t>
            </a:r>
            <a:endParaRPr lang="en-US" sz="1400" dirty="0"/>
          </a:p>
        </p:txBody>
      </p:sp>
      <p:sp>
        <p:nvSpPr>
          <p:cNvPr id="87" name="Text 24">
            <a:extLst>
              <a:ext uri="{FF2B5EF4-FFF2-40B4-BE49-F238E27FC236}">
                <a16:creationId xmlns:a16="http://schemas.microsoft.com/office/drawing/2014/main" id="{AB61869D-C611-2A49-7EE7-39C75DD15804}"/>
              </a:ext>
            </a:extLst>
          </p:cNvPr>
          <p:cNvSpPr/>
          <p:nvPr/>
        </p:nvSpPr>
        <p:spPr>
          <a:xfrm>
            <a:off x="2456988" y="4355516"/>
            <a:ext cx="110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0.402</a:t>
            </a:r>
            <a:endParaRPr lang="en-US" sz="1400" dirty="0"/>
          </a:p>
        </p:txBody>
      </p:sp>
      <p:sp>
        <p:nvSpPr>
          <p:cNvPr id="88" name="Text 25">
            <a:extLst>
              <a:ext uri="{FF2B5EF4-FFF2-40B4-BE49-F238E27FC236}">
                <a16:creationId xmlns:a16="http://schemas.microsoft.com/office/drawing/2014/main" id="{8E57BCBA-4F76-43D8-B5A8-843DAB75BF3C}"/>
              </a:ext>
            </a:extLst>
          </p:cNvPr>
          <p:cNvSpPr/>
          <p:nvPr/>
        </p:nvSpPr>
        <p:spPr>
          <a:xfrm>
            <a:off x="1147085" y="4567538"/>
            <a:ext cx="11183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:</a:t>
            </a:r>
            <a:endParaRPr lang="en-US" sz="1400" dirty="0"/>
          </a:p>
        </p:txBody>
      </p:sp>
      <p:sp>
        <p:nvSpPr>
          <p:cNvPr id="89" name="Text 26">
            <a:extLst>
              <a:ext uri="{FF2B5EF4-FFF2-40B4-BE49-F238E27FC236}">
                <a16:creationId xmlns:a16="http://schemas.microsoft.com/office/drawing/2014/main" id="{EB86201F-A339-F813-4E8A-DEF30E1731A2}"/>
              </a:ext>
            </a:extLst>
          </p:cNvPr>
          <p:cNvSpPr/>
          <p:nvPr/>
        </p:nvSpPr>
        <p:spPr>
          <a:xfrm>
            <a:off x="2447584" y="4582406"/>
            <a:ext cx="11183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4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0.735</a:t>
            </a:r>
            <a:endParaRPr lang="en-US" sz="1400" dirty="0"/>
          </a:p>
        </p:txBody>
      </p:sp>
      <p:sp>
        <p:nvSpPr>
          <p:cNvPr id="90" name="Text 43">
            <a:extLst>
              <a:ext uri="{FF2B5EF4-FFF2-40B4-BE49-F238E27FC236}">
                <a16:creationId xmlns:a16="http://schemas.microsoft.com/office/drawing/2014/main" id="{55FEF134-2808-09FD-D426-90223CF03F49}"/>
              </a:ext>
            </a:extLst>
          </p:cNvPr>
          <p:cNvSpPr/>
          <p:nvPr/>
        </p:nvSpPr>
        <p:spPr>
          <a:xfrm>
            <a:off x="4846320" y="3549510"/>
            <a:ext cx="188905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8070"/>
                </a:solidFill>
                <a:latin typeface="Courier New" pitchFamily="34" charset="0"/>
                <a:cs typeface="Courier New" pitchFamily="34" charset="-120"/>
              </a:rPr>
              <a:t>Scenario Analysis</a:t>
            </a:r>
            <a:endParaRPr lang="en-US" sz="800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FC8F3823-C3A6-58AC-9C01-6D3F77D9CFF5}"/>
              </a:ext>
            </a:extLst>
          </p:cNvPr>
          <p:cNvSpPr/>
          <p:nvPr/>
        </p:nvSpPr>
        <p:spPr>
          <a:xfrm>
            <a:off x="384048" y="1078992"/>
            <a:ext cx="8366760" cy="577927"/>
          </a:xfrm>
          <a:prstGeom prst="rect">
            <a:avLst/>
          </a:prstGeom>
          <a:solidFill>
            <a:srgbClr val="105666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21">
            <a:extLst>
              <a:ext uri="{FF2B5EF4-FFF2-40B4-BE49-F238E27FC236}">
                <a16:creationId xmlns:a16="http://schemas.microsoft.com/office/drawing/2014/main" id="{9D921B09-BCF1-B008-4818-1112245A680C}"/>
              </a:ext>
            </a:extLst>
          </p:cNvPr>
          <p:cNvSpPr/>
          <p:nvPr/>
        </p:nvSpPr>
        <p:spPr>
          <a:xfrm>
            <a:off x="592836" y="1090586"/>
            <a:ext cx="7949184" cy="555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5F1E8"/>
                </a:solidFill>
                <a:ea typeface="Courier New" pitchFamily="34" charset="-122"/>
                <a:cs typeface="Courier New" pitchFamily="34" charset="-120"/>
              </a:rPr>
              <a:t>Gradient Boosting Machine (GBM)</a:t>
            </a:r>
          </a:p>
          <a:p>
            <a:pPr algn="ctr"/>
            <a:r>
              <a:rPr lang="en-US" sz="1100" dirty="0">
                <a:solidFill>
                  <a:srgbClr val="F5F1E8"/>
                </a:solidFill>
              </a:rPr>
              <a:t>Preferred over a deep neural network for this dataset because the tabular structure, moderate dimensionality, and heterogeneous feature types favor tree-based ensembles </a:t>
            </a:r>
            <a:endParaRPr lang="en-US" sz="1100" b="1" dirty="0">
              <a:solidFill>
                <a:srgbClr val="F5F1E8"/>
              </a:solidFill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4C5EDB8-8982-FB96-9C37-ED3319E078A2}"/>
              </a:ext>
            </a:extLst>
          </p:cNvPr>
          <p:cNvSpPr/>
          <p:nvPr/>
        </p:nvSpPr>
        <p:spPr>
          <a:xfrm>
            <a:off x="701040" y="2316104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Classifier</a:t>
            </a:r>
            <a:endParaRPr lang="en-US" sz="8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DA18D77-DD0B-8BD4-BB84-688C27A6C39E}"/>
              </a:ext>
            </a:extLst>
          </p:cNvPr>
          <p:cNvSpPr/>
          <p:nvPr/>
        </p:nvSpPr>
        <p:spPr>
          <a:xfrm>
            <a:off x="2622341" y="2316104"/>
            <a:ext cx="17210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8070"/>
                </a:solidFill>
                <a:latin typeface="Courier New" pitchFamily="34" charset="0"/>
                <a:cs typeface="Courier New" pitchFamily="34" charset="-120"/>
              </a:rPr>
              <a:t>Regressor</a:t>
            </a:r>
            <a:endParaRPr lang="en-US" sz="800" dirty="0"/>
          </a:p>
        </p:txBody>
      </p:sp>
      <p:sp>
        <p:nvSpPr>
          <p:cNvPr id="11" name="Text 21">
            <a:extLst>
              <a:ext uri="{FF2B5EF4-FFF2-40B4-BE49-F238E27FC236}">
                <a16:creationId xmlns:a16="http://schemas.microsoft.com/office/drawing/2014/main" id="{897F08BF-65DB-C49B-C360-F7AD4CFFC6E8}"/>
              </a:ext>
            </a:extLst>
          </p:cNvPr>
          <p:cNvSpPr/>
          <p:nvPr/>
        </p:nvSpPr>
        <p:spPr>
          <a:xfrm>
            <a:off x="2966890" y="2500694"/>
            <a:ext cx="596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</a:t>
            </a:r>
            <a:endParaRPr lang="en-US" sz="1000" dirty="0"/>
          </a:p>
        </p:txBody>
      </p:sp>
      <p:sp>
        <p:nvSpPr>
          <p:cNvPr id="12" name="Text 22">
            <a:extLst>
              <a:ext uri="{FF2B5EF4-FFF2-40B4-BE49-F238E27FC236}">
                <a16:creationId xmlns:a16="http://schemas.microsoft.com/office/drawing/2014/main" id="{A2DED476-D1B9-E07E-7528-620083C60551}"/>
              </a:ext>
            </a:extLst>
          </p:cNvPr>
          <p:cNvSpPr/>
          <p:nvPr/>
        </p:nvSpPr>
        <p:spPr>
          <a:xfrm>
            <a:off x="3565940" y="2508128"/>
            <a:ext cx="5113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117"/>
                </a:solidFill>
                <a:latin typeface="Courier New" pitchFamily="34" charset="0"/>
                <a:cs typeface="Courier New" pitchFamily="34" charset="-120"/>
              </a:rPr>
              <a:t>0.809</a:t>
            </a:r>
            <a:endParaRPr lang="en-US" sz="1000" dirty="0"/>
          </a:p>
        </p:txBody>
      </p:sp>
      <p:sp>
        <p:nvSpPr>
          <p:cNvPr id="13" name="Text 23">
            <a:extLst>
              <a:ext uri="{FF2B5EF4-FFF2-40B4-BE49-F238E27FC236}">
                <a16:creationId xmlns:a16="http://schemas.microsoft.com/office/drawing/2014/main" id="{5AB4E287-11C8-E37C-0CD0-9E6441047F02}"/>
              </a:ext>
            </a:extLst>
          </p:cNvPr>
          <p:cNvSpPr/>
          <p:nvPr/>
        </p:nvSpPr>
        <p:spPr>
          <a:xfrm>
            <a:off x="2966890" y="2638376"/>
            <a:ext cx="5975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</a:t>
            </a:r>
            <a:endParaRPr lang="en-US" sz="1000" dirty="0"/>
          </a:p>
        </p:txBody>
      </p:sp>
      <p:sp>
        <p:nvSpPr>
          <p:cNvPr id="14" name="Text 24">
            <a:extLst>
              <a:ext uri="{FF2B5EF4-FFF2-40B4-BE49-F238E27FC236}">
                <a16:creationId xmlns:a16="http://schemas.microsoft.com/office/drawing/2014/main" id="{4A58D32E-677A-A24A-3898-E58AD1EB2758}"/>
              </a:ext>
            </a:extLst>
          </p:cNvPr>
          <p:cNvSpPr/>
          <p:nvPr/>
        </p:nvSpPr>
        <p:spPr>
          <a:xfrm>
            <a:off x="3564442" y="2645810"/>
            <a:ext cx="51289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0.612</a:t>
            </a:r>
            <a:endParaRPr lang="en-US" sz="1000" dirty="0"/>
          </a:p>
        </p:txBody>
      </p:sp>
      <p:sp>
        <p:nvSpPr>
          <p:cNvPr id="15" name="Text 25">
            <a:extLst>
              <a:ext uri="{FF2B5EF4-FFF2-40B4-BE49-F238E27FC236}">
                <a16:creationId xmlns:a16="http://schemas.microsoft.com/office/drawing/2014/main" id="{497E2D6E-1192-ADB3-DB9F-304AEA830CB7}"/>
              </a:ext>
            </a:extLst>
          </p:cNvPr>
          <p:cNvSpPr/>
          <p:nvPr/>
        </p:nvSpPr>
        <p:spPr>
          <a:xfrm>
            <a:off x="2966890" y="2790926"/>
            <a:ext cx="5975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:</a:t>
            </a:r>
            <a:endParaRPr lang="en-US" sz="1000" dirty="0"/>
          </a:p>
        </p:txBody>
      </p:sp>
      <p:sp>
        <p:nvSpPr>
          <p:cNvPr id="16" name="Text 26">
            <a:extLst>
              <a:ext uri="{FF2B5EF4-FFF2-40B4-BE49-F238E27FC236}">
                <a16:creationId xmlns:a16="http://schemas.microsoft.com/office/drawing/2014/main" id="{3FD28FA5-547E-48EB-AE5A-1A4F47BA086A}"/>
              </a:ext>
            </a:extLst>
          </p:cNvPr>
          <p:cNvSpPr/>
          <p:nvPr/>
        </p:nvSpPr>
        <p:spPr>
          <a:xfrm>
            <a:off x="3564440" y="2805794"/>
            <a:ext cx="5128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0.771</a:t>
            </a:r>
            <a:endParaRPr lang="en-US" sz="1000" dirty="0"/>
          </a:p>
        </p:txBody>
      </p:sp>
      <p:sp>
        <p:nvSpPr>
          <p:cNvPr id="17" name="Text 20">
            <a:extLst>
              <a:ext uri="{FF2B5EF4-FFF2-40B4-BE49-F238E27FC236}">
                <a16:creationId xmlns:a16="http://schemas.microsoft.com/office/drawing/2014/main" id="{66A18631-6076-92CC-0292-853464CC9C11}"/>
              </a:ext>
            </a:extLst>
          </p:cNvPr>
          <p:cNvSpPr/>
          <p:nvPr/>
        </p:nvSpPr>
        <p:spPr>
          <a:xfrm>
            <a:off x="4855464" y="3720201"/>
            <a:ext cx="3813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Gradient Boosting</a:t>
            </a:r>
            <a:endParaRPr lang="en-US" sz="1600" dirty="0"/>
          </a:p>
        </p:txBody>
      </p:sp>
      <p:sp>
        <p:nvSpPr>
          <p:cNvPr id="18" name="Text 21">
            <a:extLst>
              <a:ext uri="{FF2B5EF4-FFF2-40B4-BE49-F238E27FC236}">
                <a16:creationId xmlns:a16="http://schemas.microsoft.com/office/drawing/2014/main" id="{B9C4A7E4-418C-7520-C1F0-86BE96043436}"/>
              </a:ext>
            </a:extLst>
          </p:cNvPr>
          <p:cNvSpPr/>
          <p:nvPr/>
        </p:nvSpPr>
        <p:spPr>
          <a:xfrm>
            <a:off x="5234602" y="4177545"/>
            <a:ext cx="596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</a:t>
            </a:r>
            <a:endParaRPr lang="en-US" sz="1000" dirty="0"/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A8B7B690-4C72-FBBA-7EC2-02BB86214622}"/>
              </a:ext>
            </a:extLst>
          </p:cNvPr>
          <p:cNvSpPr/>
          <p:nvPr/>
        </p:nvSpPr>
        <p:spPr>
          <a:xfrm>
            <a:off x="5833652" y="4184979"/>
            <a:ext cx="5113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79.4%</a:t>
            </a:r>
            <a:endParaRPr lang="en-US" sz="1000" dirty="0"/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46F5E0ED-4BC9-B423-45C8-FDF7480DA4C9}"/>
              </a:ext>
            </a:extLst>
          </p:cNvPr>
          <p:cNvSpPr/>
          <p:nvPr/>
        </p:nvSpPr>
        <p:spPr>
          <a:xfrm>
            <a:off x="5234602" y="4315227"/>
            <a:ext cx="5975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F1:</a:t>
            </a:r>
            <a:endParaRPr lang="en-US" sz="100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2022E059-FC01-35DE-B045-B747A2DF4183}"/>
              </a:ext>
            </a:extLst>
          </p:cNvPr>
          <p:cNvSpPr/>
          <p:nvPr/>
        </p:nvSpPr>
        <p:spPr>
          <a:xfrm>
            <a:off x="5832154" y="4322661"/>
            <a:ext cx="51289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0.791</a:t>
            </a:r>
            <a:endParaRPr lang="en-US" sz="1000" dirty="0"/>
          </a:p>
        </p:txBody>
      </p:sp>
      <p:sp>
        <p:nvSpPr>
          <p:cNvPr id="33" name="Text 25">
            <a:extLst>
              <a:ext uri="{FF2B5EF4-FFF2-40B4-BE49-F238E27FC236}">
                <a16:creationId xmlns:a16="http://schemas.microsoft.com/office/drawing/2014/main" id="{7DF4ACE8-B643-4D81-6E4B-C14204A5AE58}"/>
              </a:ext>
            </a:extLst>
          </p:cNvPr>
          <p:cNvSpPr/>
          <p:nvPr/>
        </p:nvSpPr>
        <p:spPr>
          <a:xfrm>
            <a:off x="5234602" y="4467777"/>
            <a:ext cx="5975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</a:t>
            </a:r>
            <a:endParaRPr lang="en-US" sz="1000" dirty="0"/>
          </a:p>
        </p:txBody>
      </p:sp>
      <p:sp>
        <p:nvSpPr>
          <p:cNvPr id="41" name="Text 26">
            <a:extLst>
              <a:ext uri="{FF2B5EF4-FFF2-40B4-BE49-F238E27FC236}">
                <a16:creationId xmlns:a16="http://schemas.microsoft.com/office/drawing/2014/main" id="{6877CB6F-9F2F-001B-28B2-7F1D83647253}"/>
              </a:ext>
            </a:extLst>
          </p:cNvPr>
          <p:cNvSpPr/>
          <p:nvPr/>
        </p:nvSpPr>
        <p:spPr>
          <a:xfrm>
            <a:off x="5832152" y="4482645"/>
            <a:ext cx="5128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0.920</a:t>
            </a:r>
            <a:endParaRPr lang="en-US" sz="1000" dirty="0"/>
          </a:p>
        </p:txBody>
      </p:sp>
      <p:sp>
        <p:nvSpPr>
          <p:cNvPr id="42" name="Text 7">
            <a:extLst>
              <a:ext uri="{FF2B5EF4-FFF2-40B4-BE49-F238E27FC236}">
                <a16:creationId xmlns:a16="http://schemas.microsoft.com/office/drawing/2014/main" id="{74E67859-4D83-D941-0DB1-79BFEE3A94C5}"/>
              </a:ext>
            </a:extLst>
          </p:cNvPr>
          <p:cNvSpPr/>
          <p:nvPr/>
        </p:nvSpPr>
        <p:spPr>
          <a:xfrm>
            <a:off x="5007864" y="3996815"/>
            <a:ext cx="2423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Classifier</a:t>
            </a:r>
            <a:endParaRPr lang="en-US" sz="800" dirty="0"/>
          </a:p>
        </p:txBody>
      </p:sp>
      <p:sp>
        <p:nvSpPr>
          <p:cNvPr id="47" name="Text 7">
            <a:extLst>
              <a:ext uri="{FF2B5EF4-FFF2-40B4-BE49-F238E27FC236}">
                <a16:creationId xmlns:a16="http://schemas.microsoft.com/office/drawing/2014/main" id="{81045603-809F-F2A8-833C-C7F78DFC0386}"/>
              </a:ext>
            </a:extLst>
          </p:cNvPr>
          <p:cNvSpPr/>
          <p:nvPr/>
        </p:nvSpPr>
        <p:spPr>
          <a:xfrm>
            <a:off x="6929165" y="3996815"/>
            <a:ext cx="17210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8A8070"/>
                </a:solidFill>
                <a:latin typeface="Courier New" pitchFamily="34" charset="0"/>
                <a:cs typeface="Courier New" pitchFamily="34" charset="-120"/>
              </a:rPr>
              <a:t>Regressor</a:t>
            </a:r>
            <a:endParaRPr lang="en-US" sz="800" dirty="0"/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411DD51D-537F-A665-CF43-05FAC8FF19E8}"/>
              </a:ext>
            </a:extLst>
          </p:cNvPr>
          <p:cNvSpPr/>
          <p:nvPr/>
        </p:nvSpPr>
        <p:spPr>
          <a:xfrm>
            <a:off x="7273714" y="4181405"/>
            <a:ext cx="5960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MAE:</a:t>
            </a:r>
            <a:endParaRPr lang="en-US" sz="1000" dirty="0"/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B6406B18-2F54-018C-DF24-E04AA6C2D78D}"/>
              </a:ext>
            </a:extLst>
          </p:cNvPr>
          <p:cNvSpPr/>
          <p:nvPr/>
        </p:nvSpPr>
        <p:spPr>
          <a:xfrm>
            <a:off x="7872764" y="4188839"/>
            <a:ext cx="5113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0.512</a:t>
            </a:r>
            <a:endParaRPr lang="en-US" sz="1000" dirty="0"/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B52AE667-2C17-D3D1-FBE5-E05F06BB92DB}"/>
              </a:ext>
            </a:extLst>
          </p:cNvPr>
          <p:cNvSpPr/>
          <p:nvPr/>
        </p:nvSpPr>
        <p:spPr>
          <a:xfrm>
            <a:off x="7273714" y="4319087"/>
            <a:ext cx="59755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RMSE:</a:t>
            </a:r>
            <a:endParaRPr lang="en-US" sz="1000" dirty="0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42D379EB-CEF4-2074-CBA1-ED85CF65E9F6}"/>
              </a:ext>
            </a:extLst>
          </p:cNvPr>
          <p:cNvSpPr/>
          <p:nvPr/>
        </p:nvSpPr>
        <p:spPr>
          <a:xfrm>
            <a:off x="7871266" y="4326521"/>
            <a:ext cx="51289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1.276</a:t>
            </a:r>
            <a:endParaRPr lang="en-US" sz="1000" dirty="0"/>
          </a:p>
        </p:txBody>
      </p:sp>
      <p:sp>
        <p:nvSpPr>
          <p:cNvPr id="52" name="Text 25">
            <a:extLst>
              <a:ext uri="{FF2B5EF4-FFF2-40B4-BE49-F238E27FC236}">
                <a16:creationId xmlns:a16="http://schemas.microsoft.com/office/drawing/2014/main" id="{A7A5C5C5-463E-9E6B-A290-72792F5C3FFC}"/>
              </a:ext>
            </a:extLst>
          </p:cNvPr>
          <p:cNvSpPr/>
          <p:nvPr/>
        </p:nvSpPr>
        <p:spPr>
          <a:xfrm>
            <a:off x="7273714" y="4471637"/>
            <a:ext cx="59755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:</a:t>
            </a:r>
            <a:endParaRPr lang="en-US" sz="1000" dirty="0"/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C2B073F3-E927-35EC-10D1-7CF0C2EB64A8}"/>
              </a:ext>
            </a:extLst>
          </p:cNvPr>
          <p:cNvSpPr/>
          <p:nvPr/>
        </p:nvSpPr>
        <p:spPr>
          <a:xfrm>
            <a:off x="7871264" y="4486505"/>
            <a:ext cx="51289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00" b="1" dirty="0">
                <a:solidFill>
                  <a:srgbClr val="0D11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0.745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321282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dirty="0">
                <a:solidFill>
                  <a:srgbClr val="C8B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298448" y="439059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Analysis Insights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84048" y="960120"/>
            <a:ext cx="8366760" cy="13716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097280"/>
            <a:ext cx="4023360" cy="1335024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4048" y="1097280"/>
            <a:ext cx="50292" cy="1335024"/>
          </a:xfrm>
          <a:prstGeom prst="rect">
            <a:avLst/>
          </a:prstGeom>
          <a:solidFill>
            <a:srgbClr val="1B6B6E"/>
          </a:solidFill>
          <a:ln w="12700">
            <a:solidFill>
              <a:srgbClr val="1B6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099565"/>
            <a:ext cx="3767328" cy="328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S1. Streaming Era Indie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1433321"/>
            <a:ext cx="3703320" cy="7599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8A8070"/>
                </a:solidFill>
              </a:rPr>
              <a:t>The dominant scenario by a wide margin - nearly 95% ROI. Low budget + 75th-percentile popularity and engagement reflects streaming's power to give low-cost films unprecedented discoverability. </a:t>
            </a:r>
          </a:p>
        </p:txBody>
      </p:sp>
      <p:sp>
        <p:nvSpPr>
          <p:cNvPr id="11" name="Shape 9"/>
          <p:cNvSpPr/>
          <p:nvPr/>
        </p:nvSpPr>
        <p:spPr>
          <a:xfrm>
            <a:off x="384048" y="2395728"/>
            <a:ext cx="4023360" cy="1335024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84048" y="2395728"/>
            <a:ext cx="50292" cy="1335024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386583"/>
            <a:ext cx="3767328" cy="328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S2. Peak Blockbuster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5780" y="2642615"/>
            <a:ext cx="3703320" cy="7599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8A8070"/>
                </a:solidFill>
              </a:rPr>
              <a:t>95th-percentile budget, moderate reach - essentially break-even ROI. Even at blockbuster-level spending, the model predicts bare cost recovery under typical conditions.</a:t>
            </a:r>
          </a:p>
        </p:txBody>
      </p:sp>
      <p:sp>
        <p:nvSpPr>
          <p:cNvPr id="15" name="Shape 13"/>
          <p:cNvSpPr/>
          <p:nvPr/>
        </p:nvSpPr>
        <p:spPr>
          <a:xfrm>
            <a:off x="384048" y="3694176"/>
            <a:ext cx="4023360" cy="1335024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84048" y="3694176"/>
            <a:ext cx="50292" cy="1335024"/>
          </a:xfrm>
          <a:prstGeom prst="rect">
            <a:avLst/>
          </a:prstGeom>
          <a:solidFill>
            <a:srgbClr val="B84C2B"/>
          </a:solidFill>
          <a:ln w="12700">
            <a:solidFill>
              <a:srgbClr val="B84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25780" y="3694175"/>
            <a:ext cx="3767328" cy="3286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S1. Genre Fatigue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66928" y="4059935"/>
            <a:ext cx="3703320" cy="7599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8A8070"/>
                </a:solidFill>
              </a:rPr>
              <a:t>A 69th-percentile rating still predicts negative ROI under genre saturation. A rating sweep found a score of at least 8.56 — top 5% of all films — is required just to break even under genre fatigue conditions. </a:t>
            </a:r>
          </a:p>
        </p:txBody>
      </p:sp>
      <p:sp>
        <p:nvSpPr>
          <p:cNvPr id="19" name="Shape 17"/>
          <p:cNvSpPr/>
          <p:nvPr/>
        </p:nvSpPr>
        <p:spPr>
          <a:xfrm>
            <a:off x="4681728" y="1097280"/>
            <a:ext cx="4069080" cy="914400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81728" y="1097280"/>
            <a:ext cx="50292" cy="914400"/>
          </a:xfrm>
          <a:prstGeom prst="rect">
            <a:avLst/>
          </a:prstGeom>
          <a:solidFill>
            <a:srgbClr val="3A6EA8"/>
          </a:solidFill>
          <a:ln w="12700">
            <a:solidFill>
              <a:srgbClr val="3A6E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00600" y="11887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(Median)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60920" y="115214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B84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-0.42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360920" y="162763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 ROI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4800600" y="1444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A6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168249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Mid-budget · median features · 2015 release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81728" y="2103120"/>
            <a:ext cx="4069080" cy="914400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81728" y="2103120"/>
            <a:ext cx="50292" cy="914400"/>
          </a:xfrm>
          <a:prstGeom prst="rect">
            <a:avLst/>
          </a:prstGeom>
          <a:solidFill>
            <a:srgbClr val="1B6B6E"/>
          </a:solidFill>
          <a:ln w="12700">
            <a:solidFill>
              <a:srgbClr val="1B6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00600" y="21945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S1: Streaming Indie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360920" y="215798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1B6B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+0.95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7360920" y="263347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 ROI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800600" y="24505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B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 +1.37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268833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20th pct. budget · 75th pct. engagement · 2024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81728" y="3108960"/>
            <a:ext cx="4069080" cy="914400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81728" y="3108960"/>
            <a:ext cx="50292" cy="91440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00600" y="32004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S2: Peak Blockbuster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60920" y="316382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B84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-0.01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360920" y="363931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 ROI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4800600" y="34564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 +0.41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00600" y="369417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95th pct. budget · moderate engagement · 2010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81728" y="4114800"/>
            <a:ext cx="4069080" cy="914400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681728" y="4114800"/>
            <a:ext cx="50292" cy="914400"/>
          </a:xfrm>
          <a:prstGeom prst="rect">
            <a:avLst/>
          </a:prstGeom>
          <a:solidFill>
            <a:srgbClr val="B84C2B"/>
          </a:solidFill>
          <a:ln w="12700">
            <a:solidFill>
              <a:srgbClr val="B84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800600" y="420624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S3: Genre Fatigue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360920" y="4169664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B84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-0.26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7360920" y="464515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kern="0" spc="2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 ROI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4800600" y="446227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84C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 +0.17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00600" y="4700016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budget · vote avg 5.8 · 120 min · 2022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0" y="5084064"/>
            <a:ext cx="9144000" cy="1828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dirty="0">
                <a:solidFill>
                  <a:srgbClr val="C8B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298448" y="40932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Actionable Recommendations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84048" y="960120"/>
            <a:ext cx="8366760" cy="13716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097280"/>
            <a:ext cx="8366760" cy="1234440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4048" y="1097280"/>
            <a:ext cx="841248" cy="1234440"/>
          </a:xfrm>
          <a:prstGeom prst="rect">
            <a:avLst/>
          </a:prstGeom>
          <a:solidFill>
            <a:srgbClr val="1B6B6E"/>
          </a:solidFill>
          <a:ln w="12700">
            <a:solidFill>
              <a:srgbClr val="1B6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" y="1371600"/>
            <a:ext cx="841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1325880" y="1207008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Findings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325880" y="1499616"/>
            <a:ext cx="7269480" cy="13716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25880" y="1572768"/>
            <a:ext cx="72969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model findings, Indie-tier budget allocation maximizes ROI probability (85% vs 23% for Blockbuster). For streaming producers, S1 Streaming Indie (+0.95 predicted ROI) is the only reliably positive-ROI strategy. Prioritize low-budget, high-engagement projects over raw production spend.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423160"/>
            <a:ext cx="8366760" cy="1234440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84048" y="2423160"/>
            <a:ext cx="841248" cy="1234440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" y="2697480"/>
            <a:ext cx="841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1325880" y="2532888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Short-Term vs Long-Term Strategy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25880" y="2825496"/>
            <a:ext cx="7269480" cy="13716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325880" y="2898648"/>
            <a:ext cx="72969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Short-term: Use lagged volume data to identify fatigue-risk genres before committing. Prioritize distribution partnerships over incremental production spend; big-studio backing is the top popularity driver. Long-term: Treat post-1980 compressed margins as the permanent baseline; build ancillary revenue into blockbuster models from day one.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4048" y="3749040"/>
            <a:ext cx="8366760" cy="1234440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84048" y="3749040"/>
            <a:ext cx="841248" cy="1234440"/>
          </a:xfrm>
          <a:prstGeom prst="rect">
            <a:avLst/>
          </a:prstGeom>
          <a:solidFill>
            <a:srgbClr val="B84C2B"/>
          </a:solidFill>
          <a:ln w="12700">
            <a:solidFill>
              <a:srgbClr val="B84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84048" y="4023360"/>
            <a:ext cx="841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1325880" y="3858768"/>
            <a:ext cx="7269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Mitigation &amp; Contingency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325880" y="4151376"/>
            <a:ext cx="7269480" cy="13716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325880" y="4224528"/>
            <a:ext cx="7296912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saturation imposes a structural penalty: even 69th-percentile rated films predict negative ROI under saturation (S3: −0.25). Allow 1–2 year gaps between franchise entries for rating recovery. Blockbuster strategy (S2: −0.01) is only viable with franchise IP and ancillary revenue. Top-5% rating (8.56+) required to break even under genre fatigue.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5084064"/>
            <a:ext cx="9144000" cy="1828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4048" y="51389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Actionable Recommendations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858000" y="513892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Film Analytics Dashboard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2860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84048" y="201168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200" dirty="0">
                <a:solidFill>
                  <a:srgbClr val="C8BFB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298448" y="424189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Tableau Dashboard Visualizations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84048" y="960120"/>
            <a:ext cx="8366760" cy="13716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024128"/>
            <a:ext cx="8366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dashboards built in Tableau covering all five research questions. Each dashboard includes KPI summaries, filter controls, and drill-down capabilities by genre, decade, and country.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" y="1463040"/>
            <a:ext cx="2697480" cy="1481328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" y="1463040"/>
            <a:ext cx="50292" cy="148132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591056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A8070"/>
                </a:solidFill>
                <a:latin typeface="Courier New" pitchFamily="34" charset="0"/>
                <a:cs typeface="Courier New" pitchFamily="34" charset="-120"/>
              </a:rPr>
              <a:t>DB1. EDA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36976" y="1463040"/>
            <a:ext cx="2697480" cy="1481328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36976" y="1463040"/>
            <a:ext cx="50292" cy="1481328"/>
          </a:xfrm>
          <a:prstGeom prst="rect">
            <a:avLst/>
          </a:prstGeom>
          <a:solidFill>
            <a:srgbClr val="1B6B6E"/>
          </a:solidFill>
          <a:ln w="12700">
            <a:solidFill>
              <a:srgbClr val="1B6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01568" y="1591056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DB2. Q1 ROI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530352" y="1872513"/>
            <a:ext cx="2441448" cy="9367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A8070"/>
                </a:solidFill>
                <a:ea typeface="Calibri" pitchFamily="34" charset="-122"/>
                <a:cs typeface="Calibri" pitchFamily="34" charset="-120"/>
              </a:rPr>
              <a:t>Distribution and correlation analysis. Runtime and vote average histograms; budget–popularity scatter plot reveals non-linear returns.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9904" y="1463040"/>
            <a:ext cx="2697480" cy="1481328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89904" y="1463040"/>
            <a:ext cx="50292" cy="1481328"/>
          </a:xfrm>
          <a:prstGeom prst="rect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254496" y="1591056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DB3. Q2 ATTRIBUTES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383280" y="1874706"/>
            <a:ext cx="2441448" cy="7269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A8070"/>
                </a:solidFill>
                <a:ea typeface="Calibri" pitchFamily="34" charset="-122"/>
                <a:cs typeface="Calibri" pitchFamily="34" charset="-120"/>
              </a:rPr>
              <a:t>Budget tier profitability comparison. Box plots show ROI spread; bar chart shows 85%/55%/23% profitable rates by tier.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4048" y="3063240"/>
            <a:ext cx="2697480" cy="1481328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84048" y="3063240"/>
            <a:ext cx="50292" cy="1481328"/>
          </a:xfrm>
          <a:prstGeom prst="rect">
            <a:avLst/>
          </a:prstGeom>
          <a:solidFill>
            <a:srgbClr val="B84C2B"/>
          </a:solidFill>
          <a:ln w="12700">
            <a:solidFill>
              <a:srgbClr val="B84C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8640" y="3191256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DB4. Q3 TRENDS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36208" y="1842702"/>
            <a:ext cx="2441448" cy="7909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A8070"/>
                </a:solidFill>
                <a:ea typeface="Calibri" pitchFamily="34" charset="-122"/>
                <a:cs typeface="Calibri" pitchFamily="34" charset="-120"/>
              </a:rPr>
              <a:t>Feature importance rankings and model R² comparison. Studio vs. indie performance across runtime buckets.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36976" y="3063240"/>
            <a:ext cx="2697480" cy="1481328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236976" y="3063240"/>
            <a:ext cx="50292" cy="1481328"/>
          </a:xfrm>
          <a:prstGeom prst="rect">
            <a:avLst/>
          </a:prstGeom>
          <a:solidFill>
            <a:srgbClr val="5A7A5C"/>
          </a:solidFill>
          <a:ln w="12700">
            <a:solidFill>
              <a:srgbClr val="5A7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401568" y="3191256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DB5. Q4 GENRE FATIGUE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12064" y="3322506"/>
            <a:ext cx="2441448" cy="7968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A8070"/>
                </a:solidFill>
                <a:ea typeface="Calibri" pitchFamily="34" charset="-122"/>
                <a:cs typeface="Calibri" pitchFamily="34" charset="-120"/>
              </a:rPr>
              <a:t>Historical ROI collapse from 1940s peak to near-zero post-1980. Geographic revenue leader heatmap and runtime trend line.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089904" y="3063240"/>
            <a:ext cx="2697480" cy="1481328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089904" y="3063240"/>
            <a:ext cx="50292" cy="1481328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254496" y="3191256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kern="0" spc="2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DB6. SCENARIO ANALYSIS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364992" y="3443190"/>
            <a:ext cx="2441448" cy="784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8A8070"/>
                </a:solidFill>
                <a:ea typeface="Calibri" pitchFamily="34" charset="-122"/>
                <a:cs typeface="Calibri" pitchFamily="34" charset="-120"/>
              </a:rPr>
              <a:t>Lagged volume vs. rating scatter. Genre-decade heatmap confirms Drama and Comedy cooling. Rolling 3-year average lines.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0" y="5084064"/>
            <a:ext cx="9144000" cy="18288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0091AF55-B2A3-C243-D8E0-F1B14709BCD4}"/>
              </a:ext>
            </a:extLst>
          </p:cNvPr>
          <p:cNvSpPr/>
          <p:nvPr/>
        </p:nvSpPr>
        <p:spPr>
          <a:xfrm>
            <a:off x="6236208" y="3259167"/>
            <a:ext cx="2542032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50000"/>
              </a:lnSpc>
            </a:pPr>
            <a:r>
              <a:rPr lang="en-US" sz="1000" dirty="0">
                <a:solidFill>
                  <a:srgbClr val="8A8070"/>
                </a:solidFill>
              </a:rPr>
              <a:t>Simulated ROI outcomes across high, mid, and low-budget tiers with varying popularity and engagement levels. Confirms the studio spending threshold identified in Q1</a:t>
            </a:r>
            <a:endParaRPr lang="en-US" sz="950" dirty="0">
              <a:solidFill>
                <a:srgbClr val="8A807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36576"/>
            <a:ext cx="4297680" cy="5106924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34440" y="411480"/>
            <a:ext cx="1828800" cy="1828800"/>
          </a:xfrm>
          <a:prstGeom prst="ellipse">
            <a:avLst/>
          </a:prstGeom>
          <a:solidFill>
            <a:srgbClr val="161B22"/>
          </a:solidFill>
          <a:ln w="12700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08760" y="685800"/>
            <a:ext cx="1280160" cy="1280160"/>
          </a:xfrm>
          <a:prstGeom prst="ellipse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34440" y="41148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GH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65760" y="23774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294436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Access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337560"/>
            <a:ext cx="3017520" cy="13716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3456432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C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github.com/isobel78/</a:t>
            </a:r>
            <a:endParaRPr lang="en-US" sz="13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300" dirty="0">
                <a:solidFill>
                  <a:srgbClr val="C892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SDC486L-Final-Project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2976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200" dirty="0">
                <a:solidFill>
                  <a:srgbClr val="8A8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Atlanta Daniel · SDC486L · ECPI University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4663440" y="356470"/>
            <a:ext cx="4251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</a:t>
            </a:r>
            <a:endParaRPr lang="en-US" sz="3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Repository</a:t>
            </a:r>
            <a:endParaRPr lang="en-US" sz="3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2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4663440" y="2157838"/>
            <a:ext cx="4160520" cy="13716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63440" y="2276710"/>
            <a:ext cx="4206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8A8070"/>
                </a:solidFill>
              </a:rPr>
              <a:t>Both project notebooks and supporting documentation are available in the public GitHub repository.</a:t>
            </a:r>
          </a:p>
        </p:txBody>
      </p:sp>
      <p:sp>
        <p:nvSpPr>
          <p:cNvPr id="16" name="Shape 14"/>
          <p:cNvSpPr/>
          <p:nvPr/>
        </p:nvSpPr>
        <p:spPr>
          <a:xfrm>
            <a:off x="4663440" y="3346558"/>
            <a:ext cx="4206240" cy="1389888"/>
          </a:xfrm>
          <a:prstGeom prst="rect">
            <a:avLst/>
          </a:prstGeom>
          <a:solidFill>
            <a:srgbClr val="EDE7D9"/>
          </a:solidFill>
          <a:ln w="9525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63440" y="3346558"/>
            <a:ext cx="50292" cy="1389888"/>
          </a:xfrm>
          <a:prstGeom prst="rect">
            <a:avLst/>
          </a:prstGeom>
          <a:solidFill>
            <a:srgbClr val="1B6B6E"/>
          </a:solidFill>
          <a:ln w="12700">
            <a:solidFill>
              <a:srgbClr val="1B6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343799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11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in the Repository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00600" y="3748894"/>
            <a:ext cx="3931920" cy="13716"/>
          </a:xfrm>
          <a:prstGeom prst="rect">
            <a:avLst/>
          </a:prstGeom>
          <a:solidFill>
            <a:srgbClr val="C8BFB0"/>
          </a:solidFill>
          <a:ln w="12700">
            <a:solidFill>
              <a:srgbClr val="C8B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28032" y="3822046"/>
            <a:ext cx="82296" cy="82296"/>
          </a:xfrm>
          <a:prstGeom prst="ellipse">
            <a:avLst/>
          </a:prstGeom>
          <a:solidFill>
            <a:srgbClr val="1B6B6E"/>
          </a:solidFill>
          <a:ln w="12700">
            <a:solidFill>
              <a:srgbClr val="1B6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74336" y="3794614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notebooks (EDA-and-Models + Scenario-Analysis)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28032" y="4050646"/>
            <a:ext cx="82296" cy="82296"/>
          </a:xfrm>
          <a:prstGeom prst="ellipse">
            <a:avLst/>
          </a:prstGeom>
          <a:solidFill>
            <a:srgbClr val="1B6B6E"/>
          </a:solidFill>
          <a:ln w="12700">
            <a:solidFill>
              <a:srgbClr val="1B6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974336" y="4023214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— (cpi_1913.csv, see README for links to others)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28032" y="4279246"/>
            <a:ext cx="82296" cy="82296"/>
          </a:xfrm>
          <a:prstGeom prst="ellipse">
            <a:avLst/>
          </a:prstGeom>
          <a:solidFill>
            <a:srgbClr val="1B6B6E"/>
          </a:solidFill>
          <a:ln w="12700">
            <a:solidFill>
              <a:srgbClr val="1B6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974336" y="4251814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Report (Final-</a:t>
            </a:r>
            <a:r>
              <a:rPr lang="en-US" sz="1000" dirty="0" err="1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Report.pdf</a:t>
            </a:r>
            <a:r>
              <a:rPr lang="en-US" sz="1000" dirty="0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4507846"/>
            <a:ext cx="82296" cy="82296"/>
          </a:xfrm>
          <a:prstGeom prst="ellipse">
            <a:avLst/>
          </a:prstGeom>
          <a:solidFill>
            <a:srgbClr val="1B6B6E"/>
          </a:solidFill>
          <a:ln w="12700">
            <a:solidFill>
              <a:srgbClr val="1B6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974336" y="4480414"/>
            <a:ext cx="3749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8A8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0" y="5084064"/>
            <a:ext cx="9144000" cy="27432"/>
          </a:xfrm>
          <a:prstGeom prst="rect">
            <a:avLst/>
          </a:prstGeom>
          <a:solidFill>
            <a:srgbClr val="0D1117"/>
          </a:solidFill>
          <a:ln w="12700">
            <a:solidFill>
              <a:srgbClr val="0D11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0656f6f-463c-4054-9fc2-6f4071c6e7fc}" enabled="0" method="" siteId="{50656f6f-463c-4054-9fc2-6f4071c6e7f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1094</Words>
  <Application>Microsoft Macintosh PowerPoint</Application>
  <PresentationFormat>On-screen Show (16:9)</PresentationFormat>
  <Paragraphs>213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Film Analytics — Presentation Template</dc:title>
  <dc:subject>PptxGenJS Presentation</dc:subject>
  <dc:creator>PptxGenJS</dc:creator>
  <cp:lastModifiedBy>OL-Daniel, Atlanta (Online)</cp:lastModifiedBy>
  <cp:revision>2</cp:revision>
  <dcterms:created xsi:type="dcterms:W3CDTF">2026-03-01T00:43:27Z</dcterms:created>
  <dcterms:modified xsi:type="dcterms:W3CDTF">2026-03-01T07:03:22Z</dcterms:modified>
</cp:coreProperties>
</file>